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5" d="100"/>
          <a:sy n="75" d="100"/>
        </p:scale>
        <p:origin x="946" y="3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1EFD23-86F1-90A3-CF2A-05D54AEB87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F001E3F-E6C4-D3F5-B166-5F2ECB8F7C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E491DE-910C-8E19-97A9-37431A8DE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1805D-7303-4C6F-9547-1E61FF757886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689953B-1D0C-909D-E312-345F7CB4AA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04BBABE-50FD-8214-F77C-7B63F159A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0B9BE-A706-433B-9896-BB5B618AC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8717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9F4977-82F2-DA3F-4032-AFEE4A53C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3EC0B1-C258-80DD-832F-CAF293BEDC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46FD64-E452-DC49-3ABD-DE5688F65D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1805D-7303-4C6F-9547-1E61FF757886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DB0584-8CA7-AAE0-7FDC-46DA85CFB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D394B4-3483-A650-9F0B-41B59CB66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0B9BE-A706-433B-9896-BB5B618AC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69315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506FDE-2741-32DF-00C9-A5CB4C8EBC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ED2843C-5DF1-AE7C-740F-585D78A69D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1BC6DF-4ACC-60D8-B968-17C13BB97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1805D-7303-4C6F-9547-1E61FF757886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AA8F48-2A28-C1F8-FEE9-14353962B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05B724-E048-8629-6F34-2162967AD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0B9BE-A706-433B-9896-BB5B618AC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3745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1E4399-E4E6-0B19-B20F-A4829B046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D8DE72-764D-6EC7-D9AA-FEA4E682C8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3FFDFD-9445-7ED7-F820-C3B44CF0F9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261729-62FA-628A-E577-5192A6825C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1805D-7303-4C6F-9547-1E61FF757886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ADC841A-7987-098F-A398-C54F6CBAD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D415A37-92D0-7EA5-79F7-26F3D649A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0B9BE-A706-433B-9896-BB5B618AC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9179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460BA5-4C67-882C-A6FD-671C8A720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FFE4C1-DAE6-0501-CD47-E0EB271B3F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2AB2037-F524-E1A2-B5F5-ECC0F58BC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231408-C0CB-FC42-5B12-F679D82258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DEDC45E-322C-46D3-C8D5-ADCF987DC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170FD6E-5066-D7FD-37C5-7BBFB3C20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1805D-7303-4C6F-9547-1E61FF757886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B2FB4D0-39BC-AD69-8A9A-E6F305FF4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2332A92-44BC-74FA-69F1-9F6F53DEB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0B9BE-A706-433B-9896-BB5B618AC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1609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50EE33-4735-67FA-B800-FBA1B72BA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F715307-E154-F053-688E-05E8125F2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1805D-7303-4C6F-9547-1E61FF757886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FC9FA1A-28FA-E5E6-9459-63D195B35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F1E50B9-FDC3-94CF-C6BE-E99A761EE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0B9BE-A706-433B-9896-BB5B618AC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554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0E9D1B2-415C-1EE4-0F33-E827E8FCB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1805D-7303-4C6F-9547-1E61FF757886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7838DE6-FFF9-6263-D1D9-1FA4BDDF7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4A575F-1D9B-3757-60C9-01E53D416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0B9BE-A706-433B-9896-BB5B618AC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438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798C8A-9F62-2109-9FBB-47CFAE49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6BC935-61AA-8C92-B523-98A635C432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6E259CB-2724-DD61-FE17-C97139FC9D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F5DA18C-C003-B360-4643-79606A2414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1805D-7303-4C6F-9547-1E61FF757886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3348AF3-F08A-A3A0-7565-AF1BF2ED5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3CE6144-5A8F-083C-0606-DF1FF5EF9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0B9BE-A706-433B-9896-BB5B618AC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456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6FC375-14F4-3BB7-7C32-729F5A6A30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0416DE17-A3BE-C1CF-60D8-AA8116DFD73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F6C2BD0-DA61-C792-DCC0-26E19057D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E3DB5FD-0C27-7165-3A8C-9254531AA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1805D-7303-4C6F-9547-1E61FF757886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03F328-1E99-49D5-008F-3FA2FD2DD5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531A8A7-2EDD-0C27-715C-FCDD7D1DC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0B9BE-A706-433B-9896-BB5B618AC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08217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1CCBD5-F94D-F633-C97A-1B375D86D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0058C46-E0C0-29A7-B989-539EEF5381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20851DA-F7CC-7130-2ECD-835766CDA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1805D-7303-4C6F-9547-1E61FF757886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A0B862-02B1-D74C-AEB7-A5582D7DC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0B57B6-3BF1-03F8-1F5F-F9D723F43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0B9BE-A706-433B-9896-BB5B618AC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3056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0852952E-5A1A-065E-C614-F260A548493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D056B61-A56A-1908-8977-56E98B08D7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3DD1143-7E82-FC5B-CBAD-2A4894506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71805D-7303-4C6F-9547-1E61FF757886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25EC90-1D8A-191E-DCAB-4532A772A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381AFD2-B246-F5B2-F6C6-B87240D44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60B9BE-A706-433B-9896-BB5B618AC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46838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A2E6C61-8648-5055-F6D9-96731D0BA6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EC71CEF-0E84-98E1-D155-06FA13268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EC01D1D-3C64-9AAA-7F75-90861BB823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71805D-7303-4C6F-9547-1E61FF757886}" type="datetimeFigureOut">
              <a:rPr lang="ko-KR" altLang="en-US" smtClean="0"/>
              <a:t>2026-10-01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110AF31-9A26-3E5E-75A3-84D4C55D7CE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7614C0-8809-9F0A-6C80-1FFB098CB3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C60B9BE-A706-433B-9896-BB5B618AC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6711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RttowkdSL4Y" TargetMode="External"/><Relationship Id="rId2" Type="http://schemas.openxmlformats.org/officeDocument/2006/relationships/hyperlink" Target="https://colab.research.google.com/?hl=ko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www.linkedin.com/feed/" TargetMode="External"/><Relationship Id="rId4" Type="http://schemas.openxmlformats.org/officeDocument/2006/relationships/hyperlink" Target="https://code.claude.com/docs/ko/sub-agent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0C2E2B-4D8C-6C4C-313A-E323C15309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91027"/>
            <a:ext cx="12192000" cy="2387600"/>
          </a:xfrm>
        </p:spPr>
        <p:txBody>
          <a:bodyPr>
            <a:normAutofit/>
          </a:bodyPr>
          <a:lstStyle/>
          <a:p>
            <a:r>
              <a:rPr lang="en-US" altLang="ko-KR" sz="3500" dirty="0"/>
              <a:t>2026</a:t>
            </a:r>
            <a:r>
              <a:rPr lang="ko-KR" altLang="en-US" sz="3500" dirty="0"/>
              <a:t>년 제</a:t>
            </a:r>
            <a:r>
              <a:rPr lang="en-US" altLang="ko-KR" sz="3500" dirty="0"/>
              <a:t>6</a:t>
            </a:r>
            <a:r>
              <a:rPr lang="ko-KR" altLang="en-US" sz="3500" dirty="0"/>
              <a:t>회 </a:t>
            </a:r>
            <a:r>
              <a:rPr lang="en-US" altLang="ko-KR" sz="3500" dirty="0"/>
              <a:t>K-</a:t>
            </a:r>
            <a:r>
              <a:rPr lang="ko-KR" altLang="en-US" sz="3500" dirty="0"/>
              <a:t>인공지능 제조</a:t>
            </a:r>
            <a:r>
              <a:rPr lang="ko-KR" altLang="en-US" sz="3500" dirty="0">
                <a:solidFill>
                  <a:schemeClr val="accent2">
                    <a:lumMod val="75000"/>
                  </a:schemeClr>
                </a:solidFill>
              </a:rPr>
              <a:t>데이터 분석 경진대회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D70E472-311B-8CA8-1F7A-866B8E119F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sz="2000" dirty="0"/>
              <a:t>소성가공 예지보전 </a:t>
            </a:r>
            <a:r>
              <a:rPr lang="en-US" altLang="ko-KR" sz="2000" dirty="0"/>
              <a:t>AI </a:t>
            </a:r>
            <a:r>
              <a:rPr lang="ko-KR" altLang="en-US" sz="2000" dirty="0"/>
              <a:t>데이터셋을 활용한 제조</a:t>
            </a:r>
            <a:r>
              <a:rPr lang="en-US" altLang="ko-KR" sz="2000" dirty="0"/>
              <a:t>AI </a:t>
            </a:r>
            <a:r>
              <a:rPr lang="ko-KR" altLang="en-US" sz="2000" dirty="0"/>
              <a:t>분석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ko-KR" altLang="en-US" sz="2000" dirty="0"/>
              <a:t>경북대학교 최문석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2026-10-01</a:t>
            </a:r>
          </a:p>
        </p:txBody>
      </p:sp>
    </p:spTree>
    <p:extLst>
      <p:ext uri="{BB962C8B-B14F-4D97-AF65-F5344CB8AC3E}">
        <p14:creationId xmlns:p14="http://schemas.microsoft.com/office/powerpoint/2010/main" val="15826442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793A7-0E9B-345E-16D5-3A6AB619F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80C7D407-E04F-C321-21C5-46AE81DE714A}"/>
              </a:ext>
            </a:extLst>
          </p:cNvPr>
          <p:cNvSpPr txBox="1"/>
          <p:nvPr/>
        </p:nvSpPr>
        <p:spPr>
          <a:xfrm>
            <a:off x="279400" y="2929466"/>
            <a:ext cx="756073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 err="1"/>
              <a:t>파인블랭킹</a:t>
            </a:r>
            <a:r>
              <a:rPr lang="ko-KR" altLang="en-US" dirty="0"/>
              <a:t> 프레스의 유압펌프에 이상이 발생하는 원인</a:t>
            </a:r>
            <a:endParaRPr lang="en-US" altLang="ko-KR" dirty="0"/>
          </a:p>
          <a:p>
            <a:pPr marL="342900" indent="-342900">
              <a:buAutoNum type="arabicPeriod"/>
            </a:pPr>
            <a:r>
              <a:rPr lang="ko-KR" altLang="en-US" dirty="0"/>
              <a:t>이상이 발생했을 때</a:t>
            </a:r>
            <a:r>
              <a:rPr lang="en-US" altLang="ko-KR" dirty="0"/>
              <a:t>, </a:t>
            </a:r>
            <a:r>
              <a:rPr lang="ko-KR" altLang="en-US" dirty="0"/>
              <a:t>비가동을 한다고 했다</a:t>
            </a:r>
            <a:r>
              <a:rPr lang="en-US" altLang="ko-KR" dirty="0"/>
              <a:t>. </a:t>
            </a:r>
            <a:r>
              <a:rPr lang="ko-KR" altLang="en-US" dirty="0"/>
              <a:t>재가동을 하는 조건</a:t>
            </a:r>
            <a:r>
              <a:rPr lang="en-US" altLang="ko-KR" dirty="0"/>
              <a:t>?</a:t>
            </a:r>
          </a:p>
          <a:p>
            <a:pPr marL="342900" indent="-342900">
              <a:buAutoNum type="arabicPeriod"/>
            </a:pPr>
            <a:r>
              <a:rPr lang="ko-KR" altLang="en-US" dirty="0"/>
              <a:t>위 두가지와 연계하여 상부 하부 진동 및 전류 데이터는</a:t>
            </a:r>
            <a:endParaRPr lang="en-US" altLang="ko-KR" dirty="0"/>
          </a:p>
          <a:p>
            <a:r>
              <a:rPr lang="en-US" altLang="ko-KR" dirty="0"/>
              <a:t>      1) </a:t>
            </a:r>
            <a:r>
              <a:rPr lang="ko-KR" altLang="en-US" dirty="0"/>
              <a:t>어떤 형태를 </a:t>
            </a:r>
            <a:r>
              <a:rPr lang="ko-KR" altLang="en-US" dirty="0" err="1"/>
              <a:t>띄는게</a:t>
            </a:r>
            <a:r>
              <a:rPr lang="ko-KR" altLang="en-US" dirty="0"/>
              <a:t> 정상상태고</a:t>
            </a:r>
            <a:endParaRPr lang="en-US" altLang="ko-KR" dirty="0"/>
          </a:p>
          <a:p>
            <a:r>
              <a:rPr lang="en-US" altLang="ko-KR" dirty="0"/>
              <a:t>      2) </a:t>
            </a:r>
            <a:r>
              <a:rPr lang="ko-KR" altLang="en-US" dirty="0"/>
              <a:t>비정상 상태일 때는 어떤 형태를 띄는지</a:t>
            </a:r>
            <a:endParaRPr lang="en-US" altLang="ko-KR" dirty="0"/>
          </a:p>
          <a:p>
            <a:pPr marL="342900" indent="-342900">
              <a:buAutoNum type="arabicPeriod" startAt="4"/>
            </a:pPr>
            <a:r>
              <a:rPr lang="ko-KR" altLang="en-US" dirty="0"/>
              <a:t>모델의 </a:t>
            </a:r>
            <a:r>
              <a:rPr lang="ko-KR" altLang="en-US" dirty="0" err="1"/>
              <a:t>미탐지</a:t>
            </a:r>
            <a:r>
              <a:rPr lang="ko-KR" altLang="en-US" dirty="0"/>
              <a:t> 및 </a:t>
            </a:r>
            <a:r>
              <a:rPr lang="ko-KR" altLang="en-US" dirty="0" err="1"/>
              <a:t>오경보</a:t>
            </a:r>
            <a:r>
              <a:rPr lang="ko-KR" altLang="en-US" dirty="0"/>
              <a:t> 발생조건을 분석해야 하므로</a:t>
            </a:r>
            <a:r>
              <a:rPr lang="en-US" altLang="ko-KR" dirty="0"/>
              <a:t>, </a:t>
            </a:r>
            <a:r>
              <a:rPr lang="ko-KR" altLang="en-US" dirty="0"/>
              <a:t>모델은 </a:t>
            </a:r>
            <a:r>
              <a:rPr lang="en-US" altLang="ko-KR" dirty="0"/>
              <a:t>Blackbox</a:t>
            </a:r>
            <a:r>
              <a:rPr lang="ko-KR" altLang="en-US" dirty="0"/>
              <a:t>이면 안됨</a:t>
            </a:r>
            <a:endParaRPr lang="en-US" altLang="ko-KR" dirty="0"/>
          </a:p>
          <a:p>
            <a:pPr marL="342900" indent="-342900">
              <a:buAutoNum type="arabicPeriod" startAt="4"/>
            </a:pPr>
            <a:r>
              <a:rPr lang="ko-KR" altLang="en-US" dirty="0"/>
              <a:t>이상</a:t>
            </a:r>
            <a:r>
              <a:rPr lang="en-US" altLang="ko-KR" dirty="0"/>
              <a:t>(Positive)</a:t>
            </a:r>
            <a:r>
              <a:rPr lang="ko-KR" altLang="en-US" dirty="0"/>
              <a:t>을 많이 탐지하는 것</a:t>
            </a:r>
            <a:r>
              <a:rPr lang="en-US" altLang="ko-KR" dirty="0"/>
              <a:t>(TP/(TP+FN)</a:t>
            </a:r>
            <a:r>
              <a:rPr lang="ko-KR" altLang="en-US" dirty="0"/>
              <a:t>를 </a:t>
            </a:r>
            <a:r>
              <a:rPr lang="ko-KR" altLang="en-US" dirty="0" err="1"/>
              <a:t>늘려야함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 startAt="4"/>
            </a:pPr>
            <a:r>
              <a:rPr lang="ko-KR" altLang="en-US" dirty="0"/>
              <a:t>정상적인 운전변화를 이상으로 판단하는 </a:t>
            </a:r>
            <a:r>
              <a:rPr lang="ko-KR" altLang="en-US" dirty="0" err="1"/>
              <a:t>오경보</a:t>
            </a:r>
            <a:r>
              <a:rPr lang="en-US" altLang="ko-KR" dirty="0"/>
              <a:t>(FP/(FP+TN)</a:t>
            </a:r>
            <a:r>
              <a:rPr lang="ko-KR" altLang="en-US" dirty="0"/>
              <a:t>을 줄여야 함</a:t>
            </a:r>
            <a:r>
              <a:rPr lang="en-US" altLang="ko-KR" dirty="0"/>
              <a:t>)</a:t>
            </a:r>
          </a:p>
          <a:p>
            <a:pPr marL="342900" indent="-342900">
              <a:buAutoNum type="arabicPeriod"/>
            </a:pPr>
            <a:endParaRPr lang="ko-KR" altLang="en-US" dirty="0"/>
          </a:p>
        </p:txBody>
      </p:sp>
      <p:pic>
        <p:nvPicPr>
          <p:cNvPr id="10" name="그림 9" descr="The image displays a text document or dialogue box in Korean, detailing the development of an AI model to detect mechanical issues in a press lathing machine by analyzing vibration and electrical frequency data, aiming to reduce false alarms and misinterpretations of normal operations as malfunctions.&#10;&#10;AI 생성 콘텐츠는 정확하지 않을 수 있습니다.">
            <a:extLst>
              <a:ext uri="{FF2B5EF4-FFF2-40B4-BE49-F238E27FC236}">
                <a16:creationId xmlns:a16="http://schemas.microsoft.com/office/drawing/2014/main" id="{F0DBEE0B-D32A-C443-FA68-BC1C199657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22" y="294536"/>
            <a:ext cx="11598645" cy="2408129"/>
          </a:xfrm>
          <a:prstGeom prst="rect">
            <a:avLst/>
          </a:prstGeom>
        </p:spPr>
      </p:pic>
      <p:pic>
        <p:nvPicPr>
          <p:cNvPr id="11" name="그림 10" descr="Image">
            <a:extLst>
              <a:ext uri="{FF2B5EF4-FFF2-40B4-BE49-F238E27FC236}">
                <a16:creationId xmlns:a16="http://schemas.microsoft.com/office/drawing/2014/main" id="{651FBE4B-3F8F-FA2D-D8C2-18CA398E8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1692" y="2929466"/>
            <a:ext cx="3880908" cy="3175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2994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 descr="The document outlines a process for developing an AI model to predict manufacturing defects, including data analysis, model development, impact analysis, practical application suggestions, and code automation, aiming for reproducibility.&#10;&#10;AI 생성 콘텐츠는 정확하지 않을 수 있습니다.">
            <a:extLst>
              <a:ext uri="{FF2B5EF4-FFF2-40B4-BE49-F238E27FC236}">
                <a16:creationId xmlns:a16="http://schemas.microsoft.com/office/drawing/2014/main" id="{961FCF0E-287D-739D-4816-38BAE0627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2173" y="160619"/>
            <a:ext cx="8790228" cy="396055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A7F3CA7-8FB9-0E0A-C4F9-9E99277E065D}"/>
              </a:ext>
            </a:extLst>
          </p:cNvPr>
          <p:cNvSpPr txBox="1"/>
          <p:nvPr/>
        </p:nvSpPr>
        <p:spPr>
          <a:xfrm>
            <a:off x="1306407" y="4425973"/>
            <a:ext cx="981879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dirty="0"/>
              <a:t>젤 기본적인 모델 </a:t>
            </a:r>
            <a:r>
              <a:rPr lang="en-US" altLang="ko-KR" dirty="0"/>
              <a:t>2</a:t>
            </a:r>
            <a:r>
              <a:rPr lang="ko-KR" altLang="en-US" dirty="0"/>
              <a:t>개 만들어보고 </a:t>
            </a:r>
            <a:r>
              <a:rPr lang="en-US" altLang="ko-KR" dirty="0"/>
              <a:t>1~5</a:t>
            </a:r>
            <a:r>
              <a:rPr lang="ko-KR" altLang="en-US" dirty="0"/>
              <a:t>까지 초벌로 해보기 </a:t>
            </a:r>
            <a:r>
              <a:rPr lang="en-US" altLang="ko-KR" dirty="0"/>
              <a:t>– </a:t>
            </a:r>
            <a:r>
              <a:rPr lang="ko-KR" altLang="en-US" dirty="0"/>
              <a:t>이를 정리해서 초벌 생성</a:t>
            </a:r>
            <a:endParaRPr lang="en-US" altLang="ko-KR" dirty="0"/>
          </a:p>
          <a:p>
            <a:r>
              <a:rPr lang="en-US" altLang="ko-KR" dirty="0"/>
              <a:t>    (</a:t>
            </a:r>
            <a:r>
              <a:rPr lang="ko-KR" altLang="en-US" dirty="0"/>
              <a:t>이건 </a:t>
            </a:r>
            <a:r>
              <a:rPr lang="ko-KR" altLang="en-US" dirty="0" err="1"/>
              <a:t>뎁스가</a:t>
            </a:r>
            <a:r>
              <a:rPr lang="ko-KR" altLang="en-US" dirty="0"/>
              <a:t> </a:t>
            </a:r>
            <a:r>
              <a:rPr lang="ko-KR" altLang="en-US" dirty="0" err="1"/>
              <a:t>있어야됨</a:t>
            </a:r>
            <a:r>
              <a:rPr lang="en-US" altLang="ko-KR" dirty="0"/>
              <a:t>) – 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해보면서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  <a:t>1~5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가 정확히 </a:t>
            </a:r>
            <a:r>
              <a:rPr lang="ko-KR" altLang="en-US" b="1" dirty="0" err="1">
                <a:solidFill>
                  <a:schemeClr val="accent2">
                    <a:lumMod val="75000"/>
                  </a:schemeClr>
                </a:solidFill>
              </a:rPr>
              <a:t>무슨말인지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 알 수 있음</a:t>
            </a:r>
            <a:endParaRPr lang="en-US" altLang="ko-KR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altLang="ko-KR" dirty="0"/>
              <a:t>2. 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끊임 없이 문제점 생성</a:t>
            </a:r>
            <a:r>
              <a:rPr lang="en-US" altLang="ko-KR" dirty="0"/>
              <a:t>: 1) </a:t>
            </a:r>
            <a:r>
              <a:rPr lang="ko-KR" altLang="en-US" dirty="0"/>
              <a:t>본인이 생각하는 문제점 적어보고</a:t>
            </a:r>
            <a:endParaRPr lang="en-US" altLang="ko-KR" dirty="0"/>
          </a:p>
          <a:p>
            <a:r>
              <a:rPr lang="en-US" altLang="ko-KR" dirty="0"/>
              <a:t>                                 2) </a:t>
            </a:r>
            <a:r>
              <a:rPr lang="ko-KR" altLang="en-US" dirty="0"/>
              <a:t>폴더에 </a:t>
            </a:r>
            <a:r>
              <a:rPr lang="ko-KR" altLang="en-US" dirty="0" err="1"/>
              <a:t>있는거</a:t>
            </a:r>
            <a:r>
              <a:rPr lang="ko-KR" altLang="en-US" dirty="0"/>
              <a:t> </a:t>
            </a:r>
            <a:r>
              <a:rPr lang="ko-KR" altLang="en-US" dirty="0" err="1"/>
              <a:t>싹다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한데 넣고 적대적 공격해줘</a:t>
            </a:r>
            <a:r>
              <a:rPr lang="en-US" altLang="ko-KR" dirty="0"/>
              <a:t>, </a:t>
            </a:r>
            <a:r>
              <a:rPr lang="ko-KR" altLang="en-US" dirty="0"/>
              <a:t>검토해줘</a:t>
            </a:r>
            <a:endParaRPr lang="en-US" altLang="ko-KR" dirty="0"/>
          </a:p>
          <a:p>
            <a:r>
              <a:rPr lang="en-US" altLang="ko-KR" dirty="0"/>
              <a:t>				(</a:t>
            </a:r>
            <a:r>
              <a:rPr lang="ko-KR" altLang="en-US" dirty="0" err="1"/>
              <a:t>이런거</a:t>
            </a:r>
            <a:r>
              <a:rPr lang="ko-KR" altLang="en-US" dirty="0"/>
              <a:t> 검토하게 시키는 방법론 찾아보면 </a:t>
            </a:r>
            <a:r>
              <a:rPr lang="ko-KR" altLang="en-US" dirty="0" err="1"/>
              <a:t>있을거임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3. A</a:t>
            </a:r>
            <a:r>
              <a:rPr lang="ko-KR" altLang="en-US" dirty="0"/>
              <a:t>모델은 </a:t>
            </a:r>
            <a:r>
              <a:rPr lang="ko-KR" altLang="en-US" dirty="0" err="1"/>
              <a:t>잘못된걸</a:t>
            </a:r>
            <a:r>
              <a:rPr lang="ko-KR" altLang="en-US" dirty="0"/>
              <a:t> 잘 찾고 </a:t>
            </a:r>
            <a:r>
              <a:rPr lang="en-US" altLang="ko-KR" dirty="0"/>
              <a:t>B</a:t>
            </a:r>
            <a:r>
              <a:rPr lang="ko-KR" altLang="en-US" dirty="0"/>
              <a:t>모델은 실수를 잘 안한다면 </a:t>
            </a:r>
            <a:r>
              <a:rPr lang="en-US" altLang="ko-KR" dirty="0"/>
              <a:t>A</a:t>
            </a:r>
            <a:r>
              <a:rPr lang="ko-KR" altLang="en-US" dirty="0"/>
              <a:t>랑 </a:t>
            </a:r>
            <a:r>
              <a:rPr lang="en-US" altLang="ko-KR" dirty="0"/>
              <a:t>B</a:t>
            </a:r>
            <a:r>
              <a:rPr lang="ko-KR" altLang="en-US" dirty="0"/>
              <a:t>를 결합시켜보는 방법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446096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52639-B47A-30F1-FC99-7A9478532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608CBC8-64B6-414A-71B2-90489D719A91}"/>
              </a:ext>
            </a:extLst>
          </p:cNvPr>
          <p:cNvSpPr txBox="1"/>
          <p:nvPr/>
        </p:nvSpPr>
        <p:spPr>
          <a:xfrm>
            <a:off x="904240" y="1080423"/>
            <a:ext cx="1116584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 fontAlgn="base">
              <a:buNone/>
            </a:pPr>
            <a:r>
              <a:rPr lang="ko-KR" altLang="ko-KR" sz="2800" b="1" i="0" spc="-22" dirty="0">
                <a:solidFill>
                  <a:schemeClr val="tx1"/>
                </a:solidFill>
                <a:effectLst/>
                <a:latin typeface="+mn-lt"/>
              </a:rPr>
              <a:t>(추가) 외부데이터 활용 관련</a:t>
            </a:r>
            <a:endParaRPr lang="ko-KR" altLang="ko-KR" sz="2800" b="0" i="0" spc="-22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fontAlgn="base">
              <a:buNone/>
            </a:pPr>
            <a:r>
              <a:rPr lang="ko-KR" altLang="ko-KR" sz="2800" b="0" i="0" spc="-22" dirty="0">
                <a:solidFill>
                  <a:schemeClr val="tx1"/>
                </a:solidFill>
                <a:effectLst/>
                <a:latin typeface="+mn-lt"/>
              </a:rPr>
              <a:t>      - 문제 출제 데이터 외의 데이터 활용은 가능하나 활용 시</a:t>
            </a:r>
            <a:endParaRPr lang="en-US" altLang="ko-KR" sz="2800" b="0" i="0" spc="-22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fontAlgn="base">
              <a:buNone/>
            </a:pPr>
            <a:r>
              <a:rPr lang="en-US" altLang="ko-KR" sz="2800" spc="-22" dirty="0"/>
              <a:t>	</a:t>
            </a:r>
            <a:r>
              <a:rPr lang="ko-KR" altLang="ko-KR" sz="2800" b="1" i="0" spc="-22" dirty="0">
                <a:solidFill>
                  <a:schemeClr val="tx1"/>
                </a:solidFill>
                <a:effectLst/>
                <a:latin typeface="+mn-lt"/>
              </a:rPr>
              <a:t>활용 사유</a:t>
            </a:r>
            <a:r>
              <a:rPr lang="ko-KR" altLang="ko-KR" sz="2800" b="0" i="0" spc="-22" dirty="0">
                <a:solidFill>
                  <a:schemeClr val="tx1"/>
                </a:solidFill>
                <a:effectLst/>
                <a:latin typeface="+mn-lt"/>
              </a:rPr>
              <a:t>와 </a:t>
            </a:r>
            <a:r>
              <a:rPr lang="ko-KR" altLang="ko-KR" sz="2800" b="1" i="0" spc="-22" dirty="0">
                <a:solidFill>
                  <a:schemeClr val="tx1"/>
                </a:solidFill>
                <a:effectLst/>
                <a:latin typeface="+mn-lt"/>
              </a:rPr>
              <a:t>활용 방법</a:t>
            </a:r>
            <a:r>
              <a:rPr lang="ko-KR" altLang="ko-KR" sz="2800" b="0" i="0" spc="-22" dirty="0">
                <a:solidFill>
                  <a:schemeClr val="tx1"/>
                </a:solidFill>
                <a:effectLst/>
                <a:latin typeface="+mn-lt"/>
              </a:rPr>
              <a:t>, 활용한 데이터의 </a:t>
            </a:r>
            <a:r>
              <a:rPr lang="ko-KR" altLang="ko-KR" sz="2800" b="1" i="0" spc="-22" dirty="0">
                <a:solidFill>
                  <a:schemeClr val="tx1"/>
                </a:solidFill>
                <a:effectLst/>
                <a:latin typeface="+mn-lt"/>
              </a:rPr>
              <a:t>출처</a:t>
            </a:r>
            <a:r>
              <a:rPr lang="ko-KR" altLang="ko-KR" sz="2800" b="0" i="0" spc="-22" dirty="0">
                <a:solidFill>
                  <a:schemeClr val="tx1"/>
                </a:solidFill>
                <a:effectLst/>
                <a:latin typeface="+mn-lt"/>
              </a:rPr>
              <a:t>를 명확히</a:t>
            </a:r>
            <a:endParaRPr lang="en-US" altLang="ko-KR" sz="2800" b="0" i="0" spc="-22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fontAlgn="base">
              <a:buNone/>
            </a:pPr>
            <a:r>
              <a:rPr lang="en-US" altLang="ko-KR" sz="2800" spc="-22" dirty="0"/>
              <a:t>	</a:t>
            </a:r>
            <a:r>
              <a:rPr lang="ko-KR" altLang="ko-KR" sz="2800" b="0" i="0" spc="-22" dirty="0">
                <a:solidFill>
                  <a:schemeClr val="tx1"/>
                </a:solidFill>
                <a:effectLst/>
                <a:latin typeface="+mn-lt"/>
              </a:rPr>
              <a:t>결과보고서에 작성해야 하며,</a:t>
            </a:r>
            <a:endParaRPr lang="en-US" altLang="ko-KR" sz="2800" b="0" i="0" spc="-22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fontAlgn="base">
              <a:buNone/>
            </a:pPr>
            <a:r>
              <a:rPr lang="en-US" altLang="ko-KR" sz="2800" spc="-22" dirty="0"/>
              <a:t>	</a:t>
            </a:r>
            <a:r>
              <a:rPr lang="ko-KR" altLang="ko-KR" sz="2800" b="0" i="0" spc="-22" dirty="0">
                <a:solidFill>
                  <a:schemeClr val="tx1"/>
                </a:solidFill>
                <a:effectLst/>
                <a:latin typeface="+mn-lt"/>
              </a:rPr>
              <a:t>공개에 문제가 없는 데이터만 활용하셔야 합니다.</a:t>
            </a:r>
          </a:p>
          <a:p>
            <a:pPr marL="0" marR="0" indent="0" algn="l" fontAlgn="base">
              <a:buNone/>
            </a:pPr>
            <a:r>
              <a:rPr lang="ko-KR" altLang="ko-KR" sz="2800" b="0" i="0" spc="-22" dirty="0">
                <a:solidFill>
                  <a:schemeClr val="tx1"/>
                </a:solidFill>
                <a:effectLst/>
                <a:latin typeface="+mn-lt"/>
              </a:rPr>
              <a:t>       * 문제 발생 시 참가자의 책임 </a:t>
            </a:r>
          </a:p>
          <a:p>
            <a:pPr marL="0" marR="0" indent="0" algn="l" fontAlgn="base">
              <a:buNone/>
            </a:pPr>
            <a:r>
              <a:rPr lang="ko-KR" altLang="ko-KR" sz="2800" b="0" i="0" spc="-22" dirty="0">
                <a:solidFill>
                  <a:schemeClr val="tx1"/>
                </a:solidFill>
                <a:effectLst/>
                <a:latin typeface="+mn-lt"/>
              </a:rPr>
              <a:t>  </a:t>
            </a:r>
            <a:endParaRPr lang="en-US" altLang="ko-KR" sz="2800" b="0" i="0" spc="-22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indent="0" algn="l" fontAlgn="base">
              <a:buNone/>
            </a:pPr>
            <a:r>
              <a:rPr lang="en-US" altLang="ko-KR" sz="2800" spc="-22" dirty="0"/>
              <a:t>=&gt; Logistic Regression Base Model </a:t>
            </a:r>
            <a:r>
              <a:rPr lang="ko-KR" altLang="en-US" sz="2800" spc="-22" dirty="0"/>
              <a:t>만들고</a:t>
            </a:r>
            <a:endParaRPr lang="en-US" altLang="ko-KR" sz="2800" spc="-22" dirty="0"/>
          </a:p>
          <a:p>
            <a:pPr marL="0" marR="0" indent="0" algn="l" fontAlgn="base">
              <a:buNone/>
            </a:pPr>
            <a:r>
              <a:rPr lang="en-US" altLang="ko-KR" sz="2800" spc="-22" dirty="0"/>
              <a:t>=&gt; </a:t>
            </a:r>
            <a:r>
              <a:rPr lang="ko-KR" altLang="en-US" sz="2800" spc="-22" dirty="0"/>
              <a:t>이것저것 테스트 해보면서 </a:t>
            </a:r>
            <a:r>
              <a:rPr lang="ko-KR" altLang="en-US" sz="2800" spc="-22" dirty="0" err="1"/>
              <a:t>쓸만한거</a:t>
            </a:r>
            <a:r>
              <a:rPr lang="ko-KR" altLang="en-US" sz="2800" spc="-22" dirty="0"/>
              <a:t> 있는지 </a:t>
            </a:r>
            <a:r>
              <a:rPr lang="en-US" altLang="ko-KR" sz="2800" b="1" spc="-22" dirty="0">
                <a:solidFill>
                  <a:schemeClr val="accent2">
                    <a:lumMod val="75000"/>
                  </a:schemeClr>
                </a:solidFill>
              </a:rPr>
              <a:t>1</a:t>
            </a:r>
            <a:r>
              <a:rPr lang="ko-KR" altLang="en-US" sz="2800" b="1" spc="-22" dirty="0">
                <a:solidFill>
                  <a:schemeClr val="accent2">
                    <a:lumMod val="75000"/>
                  </a:schemeClr>
                </a:solidFill>
              </a:rPr>
              <a:t>순위로 체크</a:t>
            </a:r>
            <a:endParaRPr lang="ko-KR" altLang="ko-KR" sz="2800" b="1" i="0" spc="-22" dirty="0">
              <a:solidFill>
                <a:schemeClr val="accent2">
                  <a:lumMod val="75000"/>
                </a:schemeClr>
              </a:solidFill>
              <a:effectLst/>
              <a:latin typeface="Noto Sans CJK kr"/>
            </a:endParaRPr>
          </a:p>
        </p:txBody>
      </p:sp>
    </p:spTree>
    <p:extLst>
      <p:ext uri="{BB962C8B-B14F-4D97-AF65-F5344CB8AC3E}">
        <p14:creationId xmlns:p14="http://schemas.microsoft.com/office/powerpoint/2010/main" val="161042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2C45A-22F7-3D9F-6495-575951473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413C047-2036-15BB-6288-A141120D5132}"/>
              </a:ext>
            </a:extLst>
          </p:cNvPr>
          <p:cNvSpPr txBox="1"/>
          <p:nvPr/>
        </p:nvSpPr>
        <p:spPr>
          <a:xfrm>
            <a:off x="160020" y="303107"/>
            <a:ext cx="116967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이런 대회 우승하는 법</a:t>
            </a:r>
            <a:r>
              <a:rPr lang="en-US" altLang="ko-KR" b="1" dirty="0"/>
              <a:t>: </a:t>
            </a:r>
          </a:p>
          <a:p>
            <a:r>
              <a:rPr lang="en-US" altLang="ko-KR" dirty="0"/>
              <a:t>	1) </a:t>
            </a:r>
            <a:r>
              <a:rPr lang="ko-KR" altLang="en-US" dirty="0"/>
              <a:t>실험을 </a:t>
            </a:r>
            <a:r>
              <a:rPr lang="ko-KR" altLang="en-US" strike="sngStrike" dirty="0"/>
              <a:t>존나</a:t>
            </a:r>
            <a:r>
              <a:rPr lang="ko-KR" altLang="en-US" dirty="0"/>
              <a:t> 많이 </a:t>
            </a:r>
            <a:r>
              <a:rPr lang="ko-KR" altLang="en-US" dirty="0" err="1"/>
              <a:t>해야한다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	2) </a:t>
            </a:r>
            <a:r>
              <a:rPr lang="ko-KR" altLang="en-US" dirty="0"/>
              <a:t>통계적 실험 방법론을 그대로 </a:t>
            </a:r>
            <a:r>
              <a:rPr lang="ko-KR" altLang="en-US" dirty="0" err="1"/>
              <a:t>들고와야</a:t>
            </a:r>
            <a:r>
              <a:rPr lang="ko-KR" altLang="en-US" dirty="0"/>
              <a:t> 됨</a:t>
            </a:r>
            <a:r>
              <a:rPr lang="en-US" altLang="ko-KR" dirty="0"/>
              <a:t>. </a:t>
            </a:r>
            <a:r>
              <a:rPr lang="ko-KR" altLang="en-US" dirty="0"/>
              <a:t>관련 연구 중 통계적으로 자세히 나와 </a:t>
            </a:r>
            <a:r>
              <a:rPr lang="ko-KR" altLang="en-US" dirty="0" err="1"/>
              <a:t>있는거</a:t>
            </a:r>
            <a:r>
              <a:rPr lang="ko-KR" altLang="en-US" dirty="0"/>
              <a:t> 리서치</a:t>
            </a:r>
            <a:endParaRPr lang="en-US" altLang="ko-KR" dirty="0"/>
          </a:p>
          <a:p>
            <a:r>
              <a:rPr lang="en-US" altLang="ko-KR" dirty="0"/>
              <a:t>              (</a:t>
            </a:r>
            <a:r>
              <a:rPr lang="ko-KR" altLang="en-US" dirty="0"/>
              <a:t>평가자 중 </a:t>
            </a:r>
            <a:r>
              <a:rPr lang="en-US" altLang="ko-KR" dirty="0"/>
              <a:t>“</a:t>
            </a:r>
            <a:r>
              <a:rPr lang="ko-KR" altLang="en-US" dirty="0"/>
              <a:t>학</a:t>
            </a:r>
            <a:r>
              <a:rPr lang="en-US" altLang="ko-KR" dirty="0"/>
              <a:t>”)</a:t>
            </a:r>
          </a:p>
          <a:p>
            <a:r>
              <a:rPr lang="en-US" altLang="ko-KR" dirty="0"/>
              <a:t>	3) </a:t>
            </a:r>
            <a:r>
              <a:rPr lang="ko-KR" altLang="en-US" dirty="0"/>
              <a:t>그래서 쓸 수 있냐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	   model</a:t>
            </a:r>
            <a:r>
              <a:rPr lang="ko-KR" altLang="en-US" dirty="0"/>
              <a:t>에 </a:t>
            </a:r>
            <a:r>
              <a:rPr lang="en-US" altLang="ko-KR" dirty="0"/>
              <a:t>100%</a:t>
            </a:r>
            <a:r>
              <a:rPr lang="ko-KR" altLang="en-US" dirty="0"/>
              <a:t> 의존하지 않고 해당 결과를 바탕으로 작업자가 어떤 상태인지 알 수 있게 해야함</a:t>
            </a:r>
            <a:endParaRPr lang="en-US" altLang="ko-KR" dirty="0"/>
          </a:p>
          <a:p>
            <a:r>
              <a:rPr lang="en-US" altLang="ko-KR" dirty="0"/>
              <a:t>	   (</a:t>
            </a:r>
            <a:r>
              <a:rPr lang="ko-KR" altLang="en-US" dirty="0"/>
              <a:t>평가자 중 </a:t>
            </a:r>
            <a:r>
              <a:rPr lang="en-US" altLang="ko-KR" dirty="0"/>
              <a:t>“</a:t>
            </a:r>
            <a:r>
              <a:rPr lang="ko-KR" altLang="en-US" dirty="0"/>
              <a:t>산</a:t>
            </a:r>
            <a:r>
              <a:rPr lang="en-US" altLang="ko-KR" dirty="0"/>
              <a:t>”)</a:t>
            </a:r>
          </a:p>
          <a:p>
            <a:r>
              <a:rPr lang="en-US" altLang="ko-KR" dirty="0"/>
              <a:t>	4) </a:t>
            </a:r>
            <a:r>
              <a:rPr lang="ko-KR" altLang="en-US" dirty="0"/>
              <a:t>제조지식</a:t>
            </a:r>
            <a:r>
              <a:rPr lang="en-US" altLang="ko-KR" dirty="0"/>
              <a:t>(</a:t>
            </a:r>
            <a:r>
              <a:rPr lang="ko-KR" altLang="en-US" dirty="0"/>
              <a:t>도메인지식</a:t>
            </a:r>
            <a:r>
              <a:rPr lang="en-US" altLang="ko-KR" dirty="0"/>
              <a:t>)</a:t>
            </a:r>
            <a:r>
              <a:rPr lang="ko-KR" altLang="en-US" dirty="0"/>
              <a:t>을 데이터 분석에 </a:t>
            </a:r>
            <a:r>
              <a:rPr lang="ko-KR" altLang="en-US" dirty="0" err="1"/>
              <a:t>알잘딱으로</a:t>
            </a:r>
            <a:r>
              <a:rPr lang="ko-KR" altLang="en-US" dirty="0"/>
              <a:t> 적용</a:t>
            </a:r>
            <a:r>
              <a:rPr lang="en-US" altLang="ko-KR" dirty="0"/>
              <a:t>(</a:t>
            </a:r>
            <a:r>
              <a:rPr lang="ko-KR" altLang="en-US" dirty="0"/>
              <a:t>평가자 중 </a:t>
            </a:r>
            <a:r>
              <a:rPr lang="en-US" altLang="ko-KR" dirty="0"/>
              <a:t>“</a:t>
            </a:r>
            <a:r>
              <a:rPr lang="ko-KR" altLang="en-US" dirty="0"/>
              <a:t>연</a:t>
            </a:r>
            <a:r>
              <a:rPr lang="en-US" altLang="ko-KR" dirty="0"/>
              <a:t>“)</a:t>
            </a:r>
          </a:p>
          <a:p>
            <a:r>
              <a:rPr lang="en-US" altLang="ko-KR" dirty="0"/>
              <a:t>	5) PPT</a:t>
            </a:r>
            <a:r>
              <a:rPr lang="ko-KR" altLang="en-US" dirty="0"/>
              <a:t>를 이쁘게 만들어야 한다</a:t>
            </a:r>
            <a:r>
              <a:rPr lang="en-US" altLang="ko-KR" dirty="0"/>
              <a:t>(</a:t>
            </a:r>
            <a:r>
              <a:rPr lang="ko-KR" altLang="en-US" dirty="0"/>
              <a:t>생각보다 많이 중요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b="1" dirty="0"/>
              <a:t>이런 대회 진행방법</a:t>
            </a:r>
            <a:r>
              <a:rPr lang="en-US" altLang="ko-KR" b="1" dirty="0"/>
              <a:t>:</a:t>
            </a:r>
          </a:p>
          <a:p>
            <a:r>
              <a:rPr lang="en-US" altLang="ko-KR" dirty="0"/>
              <a:t>	1) </a:t>
            </a:r>
            <a:r>
              <a:rPr lang="ko-KR" altLang="en-US" dirty="0"/>
              <a:t>밥 먹고 이상치 탐지만 하는 사람이 아닌 이상 </a:t>
            </a:r>
            <a:r>
              <a:rPr lang="ko-KR" altLang="en-US" dirty="0" err="1"/>
              <a:t>이런거</a:t>
            </a:r>
            <a:r>
              <a:rPr lang="ko-KR" altLang="en-US" dirty="0"/>
              <a:t> 바로바로 잘하는 사람 없음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	2) </a:t>
            </a:r>
            <a:r>
              <a:rPr lang="ko-KR" altLang="en-US" dirty="0"/>
              <a:t>모든 내용을 공부하고 진행한다고 생각하면 </a:t>
            </a:r>
            <a:r>
              <a:rPr lang="ko-KR" altLang="en-US" dirty="0" err="1"/>
              <a:t>필패할</a:t>
            </a:r>
            <a:r>
              <a:rPr lang="ko-KR" altLang="en-US" dirty="0"/>
              <a:t> 것임</a:t>
            </a:r>
            <a:r>
              <a:rPr lang="en-US" altLang="ko-KR" dirty="0"/>
              <a:t>. =&gt; we need Top-down Approach</a:t>
            </a:r>
          </a:p>
          <a:p>
            <a:r>
              <a:rPr lang="en-US" altLang="ko-KR" dirty="0"/>
              <a:t>	3) AI</a:t>
            </a:r>
            <a:r>
              <a:rPr lang="ko-KR" altLang="en-US" dirty="0"/>
              <a:t> 연구자들은 </a:t>
            </a:r>
            <a:r>
              <a:rPr lang="en-US" altLang="ko-KR" dirty="0"/>
              <a:t>(1) </a:t>
            </a:r>
            <a:r>
              <a:rPr lang="ko-KR" altLang="en-US" dirty="0"/>
              <a:t>그 모델을 왜 썼는지</a:t>
            </a:r>
            <a:endParaRPr lang="en-US" altLang="ko-KR" dirty="0"/>
          </a:p>
          <a:p>
            <a:r>
              <a:rPr lang="en-US" altLang="ko-KR" dirty="0"/>
              <a:t>	   (2) </a:t>
            </a:r>
            <a:r>
              <a:rPr lang="ko-KR" altLang="en-US" dirty="0"/>
              <a:t>왜 </a:t>
            </a:r>
            <a:r>
              <a:rPr lang="en-US" altLang="ko-KR" dirty="0"/>
              <a:t>hyper parameter</a:t>
            </a:r>
            <a:r>
              <a:rPr lang="ko-KR" altLang="en-US" dirty="0"/>
              <a:t>를 그렇게 줬는지 이런 디테일을 중요하게 봄 </a:t>
            </a:r>
            <a:r>
              <a:rPr lang="en-US" altLang="ko-KR" dirty="0"/>
              <a:t>– </a:t>
            </a:r>
            <a:r>
              <a:rPr lang="ko-KR" altLang="en-US" dirty="0"/>
              <a:t>개인 생각</a:t>
            </a:r>
            <a:endParaRPr lang="en-US" altLang="ko-KR" dirty="0"/>
          </a:p>
          <a:p>
            <a:r>
              <a:rPr lang="en-US" altLang="ko-KR" dirty="0"/>
              <a:t>	   </a:t>
            </a:r>
            <a:r>
              <a:rPr lang="ko-KR" altLang="en-US" dirty="0"/>
              <a:t>따라서 모든 걸 알지 못하더라도 </a:t>
            </a:r>
            <a:r>
              <a:rPr lang="en-US" altLang="ko-KR" dirty="0"/>
              <a:t>input, output, linear, nonlinear(parameter </a:t>
            </a:r>
            <a:r>
              <a:rPr lang="ko-KR" altLang="en-US" dirty="0"/>
              <a:t>개수가 중요</a:t>
            </a:r>
            <a:r>
              <a:rPr lang="en-US" altLang="ko-KR" dirty="0"/>
              <a:t>), robustness 	   </a:t>
            </a:r>
            <a:r>
              <a:rPr lang="ko-KR" altLang="en-US" dirty="0"/>
              <a:t>정도는 체크하면서 실험</a:t>
            </a:r>
            <a:endParaRPr lang="en-US" altLang="ko-KR" dirty="0"/>
          </a:p>
          <a:p>
            <a:r>
              <a:rPr lang="en-US" altLang="ko-KR" dirty="0"/>
              <a:t>	4)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  <a:t>AI 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토큰을 들이부어서 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  <a:t>“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실험</a:t>
            </a:r>
            <a:r>
              <a:rPr lang="en-US" altLang="ko-KR" b="1" dirty="0">
                <a:solidFill>
                  <a:schemeClr val="accent2">
                    <a:lumMod val="75000"/>
                  </a:schemeClr>
                </a:solidFill>
              </a:rPr>
              <a:t>”</a:t>
            </a:r>
            <a:r>
              <a:rPr lang="ko-KR" altLang="en-US" b="1" dirty="0">
                <a:solidFill>
                  <a:schemeClr val="accent2">
                    <a:lumMod val="75000"/>
                  </a:schemeClr>
                </a:solidFill>
              </a:rPr>
              <a:t>을 많이 해야 하는데</a:t>
            </a:r>
            <a:endParaRPr lang="en-US" altLang="ko-KR" b="1" dirty="0">
              <a:solidFill>
                <a:schemeClr val="accent2">
                  <a:lumMod val="75000"/>
                </a:schemeClr>
              </a:solidFill>
            </a:endParaRPr>
          </a:p>
          <a:p>
            <a:r>
              <a:rPr lang="en-US" altLang="ko-KR" dirty="0"/>
              <a:t>	 - AI</a:t>
            </a:r>
            <a:r>
              <a:rPr lang="ko-KR" altLang="en-US" dirty="0"/>
              <a:t>는 기본적으로 평균적인 답변을 내도록 설계되어 있기 때문에</a:t>
            </a:r>
            <a:r>
              <a:rPr lang="en-US" altLang="ko-KR" dirty="0"/>
              <a:t>, step</a:t>
            </a:r>
            <a:r>
              <a:rPr lang="ko-KR" altLang="en-US" dirty="0"/>
              <a:t>마다 인간이 개입해서</a:t>
            </a:r>
            <a:endParaRPr lang="en-US" altLang="ko-KR" dirty="0"/>
          </a:p>
          <a:p>
            <a:r>
              <a:rPr lang="en-US" altLang="ko-KR" dirty="0"/>
              <a:t>	   “</a:t>
            </a:r>
            <a:r>
              <a:rPr lang="ko-KR" altLang="en-US" dirty="0" err="1"/>
              <a:t>딴지</a:t>
            </a:r>
            <a:r>
              <a:rPr lang="en-US" altLang="ko-KR" dirty="0"/>
              <a:t>”</a:t>
            </a:r>
            <a:r>
              <a:rPr lang="ko-KR" altLang="en-US" dirty="0"/>
              <a:t>를 </a:t>
            </a:r>
            <a:r>
              <a:rPr lang="ko-KR" altLang="en-US" strike="sngStrike" dirty="0"/>
              <a:t>존나</a:t>
            </a:r>
            <a:r>
              <a:rPr lang="ko-KR" altLang="en-US" dirty="0"/>
              <a:t> </a:t>
            </a:r>
            <a:r>
              <a:rPr lang="ko-KR" altLang="en-US" dirty="0" err="1"/>
              <a:t>걸어야됨</a:t>
            </a:r>
            <a:r>
              <a:rPr lang="en-US" altLang="ko-KR" dirty="0"/>
              <a:t>. </a:t>
            </a:r>
            <a:r>
              <a:rPr lang="ko-KR" altLang="en-US" dirty="0"/>
              <a:t>거의 프로 </a:t>
            </a:r>
            <a:r>
              <a:rPr lang="ko-KR" altLang="en-US" dirty="0" err="1"/>
              <a:t>불편러</a:t>
            </a:r>
            <a:r>
              <a:rPr lang="ko-KR" altLang="en-US" dirty="0"/>
              <a:t> 수준으로</a:t>
            </a:r>
            <a:endParaRPr lang="en-US" altLang="ko-KR" dirty="0"/>
          </a:p>
          <a:p>
            <a:r>
              <a:rPr lang="en-US" altLang="ko-KR" dirty="0"/>
              <a:t>	5) </a:t>
            </a:r>
            <a:r>
              <a:rPr lang="ko-KR" altLang="en-US" dirty="0" err="1"/>
              <a:t>딴지를</a:t>
            </a:r>
            <a:r>
              <a:rPr lang="ko-KR" altLang="en-US" dirty="0"/>
              <a:t> 걸려면 </a:t>
            </a:r>
            <a:r>
              <a:rPr lang="en-US" altLang="ko-KR" dirty="0"/>
              <a:t>AI</a:t>
            </a:r>
            <a:r>
              <a:rPr lang="ko-KR" altLang="en-US" dirty="0"/>
              <a:t>가 뭘 하고 있는지 알아야 한다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865852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2A55B-1A47-8DE2-5F9B-D2DEC7ED1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AA47DA-A6DE-461E-4FE4-9003AE1B87EF}"/>
              </a:ext>
            </a:extLst>
          </p:cNvPr>
          <p:cNvSpPr txBox="1"/>
          <p:nvPr/>
        </p:nvSpPr>
        <p:spPr>
          <a:xfrm>
            <a:off x="160020" y="303107"/>
            <a:ext cx="1169670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참고하면 좋을 자료나 사이트들</a:t>
            </a:r>
            <a:r>
              <a:rPr lang="en-US" altLang="ko-KR" b="1" dirty="0"/>
              <a:t>:</a:t>
            </a:r>
          </a:p>
          <a:p>
            <a:r>
              <a:rPr lang="en-US" altLang="ko-KR" dirty="0"/>
              <a:t>	1) </a:t>
            </a:r>
            <a:r>
              <a:rPr lang="en-US" altLang="ko-KR" dirty="0" err="1"/>
              <a:t>Colab</a:t>
            </a:r>
            <a:r>
              <a:rPr lang="en-US" altLang="ko-KR" dirty="0"/>
              <a:t>(</a:t>
            </a:r>
            <a:r>
              <a:rPr lang="en-US" altLang="ko-KR" dirty="0">
                <a:hlinkClick r:id="rId2"/>
              </a:rPr>
              <a:t>https://colab.research.google.com/?hl=ko</a:t>
            </a:r>
            <a:r>
              <a:rPr lang="en-US" altLang="ko-KR" dirty="0"/>
              <a:t>): GPU </a:t>
            </a:r>
            <a:r>
              <a:rPr lang="ko-KR" altLang="en-US" dirty="0"/>
              <a:t>공짜</a:t>
            </a:r>
            <a:endParaRPr lang="en-US" altLang="ko-KR" dirty="0"/>
          </a:p>
          <a:p>
            <a:r>
              <a:rPr lang="en-US" altLang="ko-KR" dirty="0"/>
              <a:t>	2) </a:t>
            </a:r>
            <a:r>
              <a:rPr lang="ko-KR" altLang="en-US" dirty="0"/>
              <a:t>유튜브 </a:t>
            </a:r>
            <a:r>
              <a:rPr lang="en-US" altLang="ko-KR" dirty="0"/>
              <a:t>Lectures(</a:t>
            </a:r>
            <a:r>
              <a:rPr lang="en-US" altLang="ko-KR" dirty="0">
                <a:hlinkClick r:id="rId3"/>
              </a:rPr>
              <a:t>https://www.youtube.com/watch?v=RttowkdSL4Y</a:t>
            </a:r>
            <a:r>
              <a:rPr lang="en-US" altLang="ko-KR" dirty="0"/>
              <a:t>):</a:t>
            </a:r>
          </a:p>
          <a:p>
            <a:r>
              <a:rPr lang="en-US" altLang="ko-KR" dirty="0"/>
              <a:t>	</a:t>
            </a:r>
            <a:r>
              <a:rPr lang="ko-KR" altLang="en-US" dirty="0"/>
              <a:t>본인 경험으로 이런 현업 </a:t>
            </a:r>
            <a:r>
              <a:rPr lang="ko-KR" altLang="en-US" dirty="0" err="1"/>
              <a:t>짬바가</a:t>
            </a:r>
            <a:r>
              <a:rPr lang="ko-KR" altLang="en-US" dirty="0"/>
              <a:t> </a:t>
            </a:r>
            <a:r>
              <a:rPr lang="ko-KR" altLang="en-US" dirty="0" err="1"/>
              <a:t>녹아있는</a:t>
            </a:r>
            <a:r>
              <a:rPr lang="ko-KR" altLang="en-US" dirty="0"/>
              <a:t> 설명들의 </a:t>
            </a:r>
            <a:r>
              <a:rPr lang="ko-KR" altLang="en-US" dirty="0" err="1"/>
              <a:t>스트립트</a:t>
            </a:r>
            <a:r>
              <a:rPr lang="ko-KR" altLang="en-US" dirty="0"/>
              <a:t> 긁어서</a:t>
            </a:r>
            <a:endParaRPr lang="en-US" altLang="ko-KR" dirty="0"/>
          </a:p>
          <a:p>
            <a:r>
              <a:rPr lang="en-US" altLang="ko-KR" dirty="0"/>
              <a:t>	AI</a:t>
            </a:r>
            <a:r>
              <a:rPr lang="ko-KR" altLang="en-US" dirty="0"/>
              <a:t>한데 주면 훨씬 더 나은 결과를 기대할 수 있었음</a:t>
            </a:r>
            <a:r>
              <a:rPr lang="en-US" altLang="ko-KR" dirty="0"/>
              <a:t>. </a:t>
            </a:r>
            <a:r>
              <a:rPr lang="ko-KR" altLang="en-US" dirty="0"/>
              <a:t>새로운 인사이트도 있고</a:t>
            </a:r>
            <a:endParaRPr lang="en-US" altLang="ko-KR" dirty="0"/>
          </a:p>
          <a:p>
            <a:r>
              <a:rPr lang="en-US" altLang="ko-KR" dirty="0"/>
              <a:t>	3)</a:t>
            </a:r>
            <a:r>
              <a:rPr lang="ko-KR" altLang="en-US" dirty="0"/>
              <a:t> </a:t>
            </a:r>
            <a:r>
              <a:rPr lang="en-US" altLang="ko-KR" dirty="0"/>
              <a:t>task </a:t>
            </a:r>
            <a:r>
              <a:rPr lang="ko-KR" altLang="en-US" dirty="0"/>
              <a:t>병렬처리 </a:t>
            </a:r>
            <a:r>
              <a:rPr lang="en-US" altLang="ko-KR" dirty="0"/>
              <a:t>– </a:t>
            </a:r>
            <a:r>
              <a:rPr lang="en-US" altLang="ko-KR" dirty="0" err="1"/>
              <a:t>claude</a:t>
            </a:r>
            <a:r>
              <a:rPr lang="en-US" altLang="ko-KR" dirty="0"/>
              <a:t> docs(</a:t>
            </a:r>
            <a:r>
              <a:rPr lang="en-US" altLang="ko-KR" dirty="0">
                <a:hlinkClick r:id="rId4"/>
              </a:rPr>
              <a:t>https://code.claude.com/docs/ko/sub-agents</a:t>
            </a:r>
            <a:r>
              <a:rPr lang="en-US" altLang="ko-KR" dirty="0"/>
              <a:t>)</a:t>
            </a:r>
          </a:p>
          <a:p>
            <a:r>
              <a:rPr lang="en-US" altLang="ko-KR" dirty="0"/>
              <a:t>	4) </a:t>
            </a:r>
            <a:r>
              <a:rPr lang="ko-KR" altLang="en-US" dirty="0" err="1"/>
              <a:t>링크드인</a:t>
            </a:r>
            <a:r>
              <a:rPr lang="en-US" altLang="ko-KR" dirty="0"/>
              <a:t>(</a:t>
            </a:r>
            <a:r>
              <a:rPr lang="en-US" altLang="ko-KR" dirty="0">
                <a:hlinkClick r:id="rId5"/>
              </a:rPr>
              <a:t>https://www.linkedin.com/feed/</a:t>
            </a:r>
            <a:r>
              <a:rPr lang="en-US" altLang="ko-KR" dirty="0"/>
              <a:t>):</a:t>
            </a:r>
          </a:p>
          <a:p>
            <a:r>
              <a:rPr lang="en-US" altLang="ko-KR" dirty="0"/>
              <a:t>		 </a:t>
            </a:r>
            <a:r>
              <a:rPr lang="ko-KR" altLang="en-US" dirty="0"/>
              <a:t>가끔 현업들의 솔직 담백한 이야기를 볼 수 있음</a:t>
            </a:r>
            <a:r>
              <a:rPr lang="en-US" altLang="ko-KR" dirty="0"/>
              <a:t>. </a:t>
            </a:r>
            <a:r>
              <a:rPr lang="ko-KR" altLang="en-US" dirty="0"/>
              <a:t>이번 프로젝트에도 </a:t>
            </a:r>
            <a:r>
              <a:rPr lang="ko-KR" altLang="en-US" dirty="0" err="1"/>
              <a:t>쓸만한지는</a:t>
            </a:r>
            <a:r>
              <a:rPr lang="ko-KR" altLang="en-US" dirty="0"/>
              <a:t> 모르겠다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76533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636</Words>
  <Application>Microsoft Office PowerPoint</Application>
  <PresentationFormat>와이드스크린</PresentationFormat>
  <Paragraphs>57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Noto Sans CJK kr</vt:lpstr>
      <vt:lpstr>맑은 고딕</vt:lpstr>
      <vt:lpstr>Arial</vt:lpstr>
      <vt:lpstr>Office 테마</vt:lpstr>
      <vt:lpstr>2026년 제6회 K-인공지능 제조데이터 분석 경진대회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최문석</dc:creator>
  <cp:lastModifiedBy>최문석</cp:lastModifiedBy>
  <cp:revision>1</cp:revision>
  <dcterms:created xsi:type="dcterms:W3CDTF">2026-10-01T07:21:54Z</dcterms:created>
  <dcterms:modified xsi:type="dcterms:W3CDTF">2026-10-01T08:11:03Z</dcterms:modified>
</cp:coreProperties>
</file>